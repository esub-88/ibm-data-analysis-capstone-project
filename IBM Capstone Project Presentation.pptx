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  <p:sldId id="264" r:id="rId12"/>
    <p:sldId id="265" r:id="rId13"/>
    <p:sldId id="273" r:id="rId14"/>
    <p:sldId id="267" r:id="rId15"/>
    <p:sldId id="268" r:id="rId16"/>
    <p:sldId id="269" r:id="rId17"/>
    <p:sldId id="271" r:id="rId18"/>
    <p:sldId id="272" r:id="rId19"/>
    <p:sldId id="274" r:id="rId20"/>
  </p:sldIdLst>
  <p:sldSz cx="12192000" cy="6858000"/>
  <p:notesSz cx="6858000" cy="1857375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C3"/>
    <a:srgbClr val="007D79"/>
    <a:srgbClr val="D02670"/>
    <a:srgbClr val="231F20"/>
    <a:srgbClr val="33B1FF"/>
    <a:srgbClr val="262626"/>
    <a:srgbClr val="525252"/>
    <a:srgbClr val="BE95FF"/>
    <a:srgbClr val="FFFFFF"/>
    <a:srgbClr val="C1C7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4144D0-537A-4907-AA7C-B7C1941B0FEC}" v="699" dt="2025-11-21T23:24:35.105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13" autoAdjust="0"/>
    <p:restoredTop sz="91480" autoAdjust="0"/>
  </p:normalViewPr>
  <p:slideViewPr>
    <p:cSldViewPr snapToGrid="0">
      <p:cViewPr varScale="1">
        <p:scale>
          <a:sx n="56" d="100"/>
          <a:sy n="56" d="100"/>
        </p:scale>
        <p:origin x="28" y="80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6.png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Relationship Id="rId14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3" Type="http://schemas.openxmlformats.org/officeDocument/2006/relationships/image" Target="../media/image9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0.png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24427" y="1168401"/>
            <a:ext cx="10964254" cy="2387600"/>
          </a:xfrm>
          <a:noFill/>
        </p:spPr>
        <p:txBody>
          <a:bodyPr/>
          <a:lstStyle/>
          <a:p>
            <a:r>
              <a:rPr lang="en-US" dirty="0">
                <a:latin typeface="IBM Plex Sans SemiBold"/>
              </a:rPr>
              <a:t>IBM Data Analysis</a:t>
            </a:r>
            <a:br>
              <a:rPr lang="en-US" dirty="0">
                <a:latin typeface="IBM Plex Sans SemiBold"/>
              </a:rPr>
            </a:br>
            <a:r>
              <a:rPr lang="en-US" dirty="0">
                <a:latin typeface="IBM Plex Sans SemiBold"/>
              </a:rPr>
              <a:t>Capstone Project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719" y="387350"/>
            <a:ext cx="4794861" cy="4351338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CF17E7-CC42-7CDE-9940-636040BCF936}"/>
              </a:ext>
            </a:extLst>
          </p:cNvPr>
          <p:cNvSpPr txBox="1"/>
          <p:nvPr/>
        </p:nvSpPr>
        <p:spPr>
          <a:xfrm>
            <a:off x="4163483" y="3825240"/>
            <a:ext cx="460248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Kyle McCallum</a:t>
            </a:r>
          </a:p>
          <a:p>
            <a:r>
              <a:rPr lang="en-US" dirty="0"/>
              <a:t>11/21/2025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Executive Summary</a:t>
            </a:r>
          </a:p>
          <a:p>
            <a:r>
              <a:rPr lang="en-US" sz="2200" dirty="0"/>
              <a:t>Introduction</a:t>
            </a:r>
          </a:p>
          <a:p>
            <a:r>
              <a:rPr lang="en-US" sz="2200" dirty="0"/>
              <a:t>Methodology</a:t>
            </a:r>
          </a:p>
          <a:p>
            <a:r>
              <a:rPr lang="en-US" sz="2200" dirty="0"/>
              <a:t>Results</a:t>
            </a:r>
          </a:p>
          <a:p>
            <a:pPr lvl="1"/>
            <a:r>
              <a:rPr lang="en-US" sz="1800" dirty="0"/>
              <a:t>Visualization – Charts</a:t>
            </a:r>
          </a:p>
          <a:p>
            <a:pPr lvl="1"/>
            <a:r>
              <a:rPr lang="en-US" sz="1800" dirty="0">
                <a:latin typeface="IBM Plex Sans"/>
              </a:rPr>
              <a:t>Dashboard</a:t>
            </a:r>
          </a:p>
          <a:p>
            <a:r>
              <a:rPr lang="en-US" sz="2200" dirty="0">
                <a:latin typeface="IBM Plex Sans"/>
              </a:rPr>
              <a:t>Conclusion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4285075" y="1391707"/>
            <a:ext cx="7068725" cy="50157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latin typeface="IBM Plex Sans"/>
              </a:rPr>
              <a:t>Purpose: </a:t>
            </a:r>
            <a:endParaRPr lang="en-US" sz="1800" b="1"/>
          </a:p>
          <a:p>
            <a:pPr lvl="1">
              <a:buFont typeface="Courier New"/>
              <a:buChar char="o"/>
            </a:pPr>
            <a:r>
              <a:rPr lang="en-US" sz="1400" dirty="0">
                <a:latin typeface="IBM Plex Sans"/>
              </a:rPr>
              <a:t>Analyze Stack Overflow Developer Survey to understand trends</a:t>
            </a:r>
            <a:endParaRPr lang="en-US" sz="1400" dirty="0"/>
          </a:p>
          <a:p>
            <a:r>
              <a:rPr lang="en-US" sz="1800" b="1" dirty="0">
                <a:latin typeface="IBM Plex Sans"/>
              </a:rPr>
              <a:t>Method</a:t>
            </a:r>
            <a:r>
              <a:rPr lang="en-US" sz="1800" dirty="0">
                <a:latin typeface="IBM Plex Sans"/>
              </a:rPr>
              <a:t>: Built three interactive dashboards covering current tech usage, emerging trends, and demographic distribution</a:t>
            </a:r>
            <a:endParaRPr lang="en-US" sz="1800"/>
          </a:p>
          <a:p>
            <a:pPr lvl="1">
              <a:buFont typeface="Courier New"/>
              <a:buChar char="o"/>
            </a:pPr>
            <a:r>
              <a:rPr lang="en-US" sz="1400" dirty="0">
                <a:latin typeface="IBM Plex Sans"/>
              </a:rPr>
              <a:t>Included bar charts, tree maps, bubble charts, and geospatial mapping</a:t>
            </a:r>
          </a:p>
          <a:p>
            <a:r>
              <a:rPr lang="en-US" sz="1800" b="1" dirty="0">
                <a:latin typeface="IBM Plex Sans"/>
              </a:rPr>
              <a:t>Current Technology Trends: </a:t>
            </a:r>
          </a:p>
          <a:p>
            <a:pPr lvl="1">
              <a:buFont typeface="Courier New"/>
              <a:buChar char="o"/>
            </a:pPr>
            <a:r>
              <a:rPr lang="en-US" sz="1400" dirty="0">
                <a:latin typeface="IBM Plex Sans"/>
              </a:rPr>
              <a:t>JavaScript, SQL, and TypeScript dominate programming languages.</a:t>
            </a:r>
          </a:p>
          <a:p>
            <a:pPr lvl="1">
              <a:buFont typeface="Courier New"/>
              <a:buChar char="o"/>
            </a:pPr>
            <a:r>
              <a:rPr lang="en-US" sz="1400" dirty="0">
                <a:latin typeface="IBM Plex Sans"/>
              </a:rPr>
              <a:t>PostgreSQL, MySQL, and SQLite lead in database usage.</a:t>
            </a:r>
          </a:p>
          <a:p>
            <a:pPr lvl="1">
              <a:buFont typeface="Courier New"/>
              <a:buChar char="o"/>
            </a:pPr>
            <a:r>
              <a:rPr lang="en-US" sz="1400" dirty="0">
                <a:latin typeface="IBM Plex Sans"/>
              </a:rPr>
              <a:t>AWS and Google Cloud are the most widely used platforms.</a:t>
            </a:r>
          </a:p>
          <a:p>
            <a:r>
              <a:rPr lang="en-US" sz="1800" b="1" dirty="0">
                <a:latin typeface="IBM Plex Sans"/>
              </a:rPr>
              <a:t>Future Technology Trends:</a:t>
            </a:r>
          </a:p>
          <a:p>
            <a:pPr lvl="1">
              <a:buFont typeface="Courier New"/>
              <a:buChar char="o"/>
            </a:pPr>
            <a:r>
              <a:rPr lang="en-US" sz="1400" dirty="0">
                <a:latin typeface="IBM Plex Sans"/>
              </a:rPr>
              <a:t>Growing interest in TypeScript, Go, and Rust for next year.</a:t>
            </a:r>
          </a:p>
          <a:p>
            <a:pPr lvl="1">
              <a:buFont typeface="Courier New"/>
              <a:buChar char="o"/>
            </a:pPr>
            <a:r>
              <a:rPr lang="en-US" sz="1400" dirty="0">
                <a:latin typeface="IBM Plex Sans"/>
              </a:rPr>
              <a:t>Redis, PostgreSQL, and cloud platforms such as AWS show rising demand.</a:t>
            </a:r>
          </a:p>
          <a:p>
            <a:pPr lvl="1">
              <a:buFont typeface="Courier New"/>
              <a:buChar char="o"/>
            </a:pPr>
            <a:r>
              <a:rPr lang="en-US" sz="1400" dirty="0">
                <a:latin typeface="IBM Plex Sans"/>
              </a:rPr>
              <a:t>Web frameworks like React and </a:t>
            </a:r>
            <a:r>
              <a:rPr lang="en-US" sz="1400" dirty="0" err="1">
                <a:latin typeface="IBM Plex Sans"/>
              </a:rPr>
              <a:t>FastAPI</a:t>
            </a:r>
            <a:r>
              <a:rPr lang="en-US" sz="1400" dirty="0">
                <a:latin typeface="IBM Plex Sans"/>
              </a:rPr>
              <a:t> gain traction.</a:t>
            </a:r>
          </a:p>
          <a:p>
            <a:r>
              <a:rPr lang="en-US" sz="1800" b="1" dirty="0">
                <a:latin typeface="IBM Plex Sans"/>
              </a:rPr>
              <a:t>Demographics:</a:t>
            </a:r>
          </a:p>
          <a:p>
            <a:pPr lvl="1">
              <a:buFont typeface="Courier New"/>
              <a:buChar char="o"/>
            </a:pPr>
            <a:r>
              <a:rPr lang="en-US" sz="1400" dirty="0">
                <a:latin typeface="IBM Plex Sans"/>
              </a:rPr>
              <a:t>Majority of respondents are aged 25–34 with Bachelor’s or Master’s degrees.</a:t>
            </a:r>
          </a:p>
          <a:p>
            <a:pPr lvl="1">
              <a:buFont typeface="Courier New"/>
              <a:buChar char="o"/>
            </a:pPr>
            <a:r>
              <a:rPr lang="en-US" sz="1400" dirty="0">
                <a:latin typeface="IBM Plex Sans"/>
              </a:rPr>
              <a:t>Participation spans global regions, with concentration in North America, Europe, and India.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494" y="2302762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tx1"/>
                </a:solidFill>
                <a:latin typeface="IBM Plex Sans"/>
              </a:rPr>
              <a:t>Target Audience:</a:t>
            </a:r>
            <a:endParaRPr lang="en-US" sz="1800" dirty="0">
              <a:solidFill>
                <a:schemeClr val="tx1"/>
              </a:solidFill>
              <a:latin typeface="IBM Plex Sans"/>
            </a:endParaRPr>
          </a:p>
          <a:p>
            <a:pPr lvl="1">
              <a:buFont typeface="Courier New,monospace"/>
              <a:buChar char="o"/>
            </a:pPr>
            <a:r>
              <a:rPr lang="en-US" sz="1800" dirty="0">
                <a:solidFill>
                  <a:schemeClr val="tx1"/>
                </a:solidFill>
                <a:latin typeface="IBM Plex Sans"/>
              </a:rPr>
              <a:t>Data professionals, analysts, and hiring managers</a:t>
            </a:r>
          </a:p>
          <a:p>
            <a:pPr lvl="1">
              <a:buFont typeface="Courier New,monospace"/>
              <a:buChar char="o"/>
            </a:pPr>
            <a:r>
              <a:rPr lang="en-US" sz="1800" dirty="0">
                <a:solidFill>
                  <a:schemeClr val="tx1"/>
                </a:solidFill>
                <a:latin typeface="IBM Plex Sans"/>
              </a:rPr>
              <a:t>Educators, curriculum designers, and tech leaders planning training or adoption strategies</a:t>
            </a:r>
          </a:p>
          <a:p>
            <a:pPr lvl="1">
              <a:buFont typeface="Courier New,monospace"/>
              <a:buChar char="o"/>
            </a:pPr>
            <a:r>
              <a:rPr lang="en-US" sz="1800" dirty="0">
                <a:solidFill>
                  <a:schemeClr val="tx1"/>
                </a:solidFill>
                <a:latin typeface="IBM Plex Sans"/>
              </a:rPr>
              <a:t>Organizations interested in workforce skills and technology adoption</a:t>
            </a:r>
          </a:p>
          <a:p>
            <a:r>
              <a:rPr lang="en-US" sz="1800" b="1" dirty="0">
                <a:solidFill>
                  <a:schemeClr val="tx1"/>
                </a:solidFill>
                <a:latin typeface="IBM Plex Sans"/>
              </a:rPr>
              <a:t>Purpose of the Project:</a:t>
            </a:r>
            <a:endParaRPr lang="en-US" sz="1800" dirty="0">
              <a:solidFill>
                <a:schemeClr val="tx1"/>
              </a:solidFill>
              <a:latin typeface="IBM Plex Sans"/>
            </a:endParaRPr>
          </a:p>
          <a:p>
            <a:pPr lvl="1"/>
            <a:r>
              <a:rPr lang="en-US" sz="1800" dirty="0">
                <a:solidFill>
                  <a:schemeClr val="tx1"/>
                </a:solidFill>
                <a:latin typeface="IBM Plex Sans"/>
              </a:rPr>
              <a:t>Analyze the Stack Overflow Developer Survey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IBM Plex Sans"/>
              </a:rPr>
              <a:t>Identify current technology usage patterns and emerging future trends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IBM Plex Sans"/>
              </a:rPr>
              <a:t>Understand developer demographics that shape these trends</a:t>
            </a:r>
          </a:p>
          <a:p>
            <a:r>
              <a:rPr lang="en-US" sz="1800" b="1" dirty="0">
                <a:solidFill>
                  <a:schemeClr val="tx1"/>
                </a:solidFill>
                <a:latin typeface="IBM Plex Sans"/>
              </a:rPr>
              <a:t>Value of the Analysis: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IBM Plex Sans"/>
              </a:rPr>
              <a:t>Highlights the most in-demand programming languages, databases, platforms, and frameworks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IBM Plex Sans"/>
              </a:rPr>
              <a:t>Reveals which technologies developers plan to learn next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IBM Plex Sans"/>
              </a:rPr>
              <a:t>Provides demographic context for interpreting technology preferences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IBM Plex Sans"/>
              </a:rPr>
              <a:t>Supports data-driven decisions for skill development, hiring, and technology roadmap planning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76642"/>
            <a:ext cx="723072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4168658" y="1529292"/>
            <a:ext cx="7068725" cy="55049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IBM Plex Sans"/>
              </a:rPr>
              <a:t>Data Source:</a:t>
            </a:r>
            <a:endParaRPr lang="en-US" sz="2000" b="1"/>
          </a:p>
          <a:p>
            <a:pPr lvl="1">
              <a:buFont typeface="Courier New"/>
              <a:buChar char="o"/>
            </a:pPr>
            <a:r>
              <a:rPr lang="en-US" sz="1600" dirty="0">
                <a:latin typeface="IBM Plex Sans"/>
              </a:rPr>
              <a:t>Stack Overflow Developer Survey (subset provided for the capstone)</a:t>
            </a:r>
          </a:p>
          <a:p>
            <a:pPr lvl="1">
              <a:buFont typeface="Courier New"/>
              <a:buChar char="o"/>
            </a:pPr>
            <a:r>
              <a:rPr lang="en-US" sz="1600" dirty="0">
                <a:latin typeface="IBM Plex Sans"/>
              </a:rPr>
              <a:t>Cleaned and prepared using Python (pandas)</a:t>
            </a:r>
          </a:p>
          <a:p>
            <a:r>
              <a:rPr lang="en-US" sz="2000" b="1" dirty="0">
                <a:latin typeface="IBM Plex Sans"/>
              </a:rPr>
              <a:t>Data Preparation &amp; Wrangling:</a:t>
            </a:r>
          </a:p>
          <a:p>
            <a:pPr lvl="1">
              <a:buFont typeface="Courier New"/>
              <a:buChar char="o"/>
            </a:pPr>
            <a:r>
              <a:rPr lang="en-US" sz="1600" dirty="0">
                <a:latin typeface="IBM Plex Sans"/>
              </a:rPr>
              <a:t>Removed or standardized long categorical labels</a:t>
            </a:r>
          </a:p>
          <a:p>
            <a:pPr lvl="1">
              <a:buFont typeface="Courier New"/>
              <a:buChar char="o"/>
            </a:pPr>
            <a:r>
              <a:rPr lang="en-US" sz="1600" dirty="0">
                <a:latin typeface="IBM Plex Sans"/>
              </a:rPr>
              <a:t>Aggregated top 10 technologies across languages, databases, platforms, and frameworks</a:t>
            </a:r>
          </a:p>
          <a:p>
            <a:pPr lvl="1">
              <a:buFont typeface="Courier New"/>
              <a:buChar char="o"/>
            </a:pPr>
            <a:r>
              <a:rPr lang="en-US" sz="1600" dirty="0">
                <a:latin typeface="IBM Plex Sans"/>
              </a:rPr>
              <a:t>Handled missing values and converted data types for visualization compatibility</a:t>
            </a:r>
          </a:p>
          <a:p>
            <a:r>
              <a:rPr lang="en-US" sz="2000" b="1" dirty="0">
                <a:latin typeface="IBM Plex Sans"/>
              </a:rPr>
              <a:t>Analytical Tools:</a:t>
            </a:r>
          </a:p>
          <a:p>
            <a:pPr lvl="1">
              <a:buFont typeface="Courier New"/>
              <a:buChar char="o"/>
            </a:pPr>
            <a:r>
              <a:rPr lang="en-US" sz="1600" dirty="0">
                <a:latin typeface="IBM Plex Sans"/>
              </a:rPr>
              <a:t>Python (Pandas, Regex)</a:t>
            </a:r>
          </a:p>
          <a:p>
            <a:pPr lvl="1">
              <a:buFont typeface="Courier New"/>
              <a:buChar char="o"/>
            </a:pPr>
            <a:r>
              <a:rPr lang="en-US" sz="1600" dirty="0">
                <a:latin typeface="IBM Plex Sans"/>
              </a:rPr>
              <a:t>Google Looker Studio for interactive dashboard creation</a:t>
            </a:r>
          </a:p>
          <a:p>
            <a:r>
              <a:rPr lang="en-US" sz="2000" b="1" dirty="0">
                <a:latin typeface="IBM Plex Sans"/>
              </a:rPr>
              <a:t>Dashboard Development:</a:t>
            </a:r>
          </a:p>
          <a:p>
            <a:pPr lvl="1">
              <a:buFont typeface="Courier New"/>
              <a:buChar char="o"/>
            </a:pPr>
            <a:r>
              <a:rPr lang="en-US" sz="1600" dirty="0">
                <a:latin typeface="IBM Plex Sans"/>
              </a:rPr>
              <a:t>Built three dashboards:</a:t>
            </a:r>
          </a:p>
          <a:p>
            <a:pPr lvl="2">
              <a:buFont typeface="Wingdings"/>
              <a:buChar char="§"/>
            </a:pPr>
            <a:r>
              <a:rPr lang="en-US" sz="1050" dirty="0">
                <a:latin typeface="IBM Plex Sans"/>
              </a:rPr>
              <a:t>Current Technology Usage</a:t>
            </a:r>
          </a:p>
          <a:p>
            <a:pPr lvl="2">
              <a:buFont typeface="Wingdings"/>
              <a:buChar char="§"/>
            </a:pPr>
            <a:r>
              <a:rPr lang="en-US" sz="1050" dirty="0">
                <a:latin typeface="IBM Plex Sans"/>
              </a:rPr>
              <a:t>Future Technology Trends</a:t>
            </a:r>
          </a:p>
          <a:p>
            <a:pPr lvl="2">
              <a:buFont typeface="Wingdings"/>
              <a:buChar char="§"/>
            </a:pPr>
            <a:r>
              <a:rPr lang="en-US" sz="1050" dirty="0">
                <a:latin typeface="IBM Plex Sans"/>
              </a:rPr>
              <a:t>Demographics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PROGRAMMING LANGUAGE TRENDS</a:t>
            </a:r>
          </a:p>
        </p:txBody>
      </p:sp>
      <p:pic>
        <p:nvPicPr>
          <p:cNvPr id="2" name="Picture 1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C4938815-7EFE-EF3B-EB5C-30B6C992F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375" y="1507595"/>
            <a:ext cx="5270499" cy="4043891"/>
          </a:xfrm>
          <a:prstGeom prst="rect">
            <a:avLst/>
          </a:prstGeom>
        </p:spPr>
      </p:pic>
      <p:pic>
        <p:nvPicPr>
          <p:cNvPr id="3" name="Picture 2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9C0284C4-9129-2BC9-6E0E-9084202C04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6639" y="1503891"/>
            <a:ext cx="5239808" cy="40513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0F00F5C-3ECE-85E5-9D28-F6E567AF6AB1}"/>
              </a:ext>
            </a:extLst>
          </p:cNvPr>
          <p:cNvSpPr txBox="1"/>
          <p:nvPr/>
        </p:nvSpPr>
        <p:spPr>
          <a:xfrm>
            <a:off x="807720" y="4952999"/>
            <a:ext cx="4343400" cy="1234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PROGRAMMING LANGUAGE TRENDS - FINDINGS &amp; IMPLICATIONS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66E7F-5223-7C98-EBC0-E8FA35940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86958"/>
            <a:ext cx="5181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900" b="1" dirty="0">
                <a:latin typeface="IBM Plex Sans"/>
              </a:rPr>
              <a:t>TypeScript</a:t>
            </a:r>
            <a:r>
              <a:rPr lang="en-US" sz="1900" dirty="0">
                <a:latin typeface="IBM Plex Sans"/>
              </a:rPr>
              <a:t> shows the largest anticipated growth, reinforcing its rising importance in modern web development.</a:t>
            </a:r>
            <a:endParaRPr lang="en-US" sz="1900"/>
          </a:p>
          <a:p>
            <a:r>
              <a:rPr lang="en-US" sz="1900" b="1" dirty="0">
                <a:latin typeface="IBM Plex Sans"/>
              </a:rPr>
              <a:t>Go and Rust</a:t>
            </a:r>
            <a:r>
              <a:rPr lang="en-US" sz="1900" dirty="0">
                <a:latin typeface="IBM Plex Sans"/>
              </a:rPr>
              <a:t> appear prominently among desired languages, reflecting interest in high-performance, cloud-native, and systems-level development.</a:t>
            </a:r>
            <a:endParaRPr lang="en-US" sz="1900"/>
          </a:p>
          <a:p>
            <a:r>
              <a:rPr lang="en-US" sz="1900" b="1" dirty="0">
                <a:latin typeface="IBM Plex Sans"/>
              </a:rPr>
              <a:t>Python</a:t>
            </a:r>
            <a:r>
              <a:rPr lang="en-US" sz="1900" dirty="0">
                <a:latin typeface="IBM Plex Sans"/>
              </a:rPr>
              <a:t> remains in strong demand, driven by continued growth in AI, data science, and automation fields.</a:t>
            </a:r>
          </a:p>
          <a:p>
            <a:r>
              <a:rPr lang="en-US" sz="1900" dirty="0">
                <a:latin typeface="IBM Plex Sans"/>
              </a:rPr>
              <a:t>Many developers intend to expand into </a:t>
            </a:r>
            <a:r>
              <a:rPr lang="en-US" sz="1900" b="1" dirty="0">
                <a:latin typeface="IBM Plex Sans"/>
              </a:rPr>
              <a:t>strongly typed or low-latency languages</a:t>
            </a:r>
            <a:r>
              <a:rPr lang="en-US" sz="1900" dirty="0">
                <a:latin typeface="IBM Plex Sans"/>
              </a:rPr>
              <a:t>, indicating a shift toward scalable and secure software architectures.</a:t>
            </a:r>
            <a:endParaRPr lang="en-US" sz="1900"/>
          </a:p>
          <a:p>
            <a:r>
              <a:rPr lang="en-US" sz="1900" dirty="0">
                <a:latin typeface="IBM Plex Sans"/>
              </a:rPr>
              <a:t>The future trend emphasizes performance, safety, and cloud-readiness over purely general-purpose usage.</a:t>
            </a:r>
            <a:endParaRPr lang="en-US" sz="19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F0298B-81EE-A95A-2FDB-0E6103C836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1900" b="1" dirty="0">
                <a:latin typeface="IBM Plex Sans"/>
              </a:rPr>
              <a:t>JavaScript and Python</a:t>
            </a:r>
            <a:r>
              <a:rPr lang="en-US" sz="1900" dirty="0">
                <a:latin typeface="IBM Plex Sans"/>
              </a:rPr>
              <a:t> remain the most widely used languages, reflecting their versatility across web and data workflows.</a:t>
            </a:r>
          </a:p>
          <a:p>
            <a:r>
              <a:rPr lang="en-US" sz="1900" b="1" dirty="0">
                <a:latin typeface="IBM Plex Sans"/>
              </a:rPr>
              <a:t>SQL</a:t>
            </a:r>
            <a:r>
              <a:rPr lang="en-US" sz="1900" dirty="0">
                <a:latin typeface="IBM Plex Sans"/>
              </a:rPr>
              <a:t> continues to be a core skill due to its central role in data access and backend systems.</a:t>
            </a:r>
          </a:p>
          <a:p>
            <a:r>
              <a:rPr lang="en-US" sz="1900" b="1" dirty="0">
                <a:latin typeface="IBM Plex Sans"/>
              </a:rPr>
              <a:t>TypeScript</a:t>
            </a:r>
            <a:r>
              <a:rPr lang="en-US" sz="1900" dirty="0">
                <a:latin typeface="IBM Plex Sans"/>
              </a:rPr>
              <a:t> usage is rising, indicating growing adoption of typed JavaScript ecosystems.</a:t>
            </a:r>
          </a:p>
          <a:p>
            <a:r>
              <a:rPr lang="en-US" sz="1900" b="1" dirty="0">
                <a:latin typeface="IBM Plex Sans"/>
              </a:rPr>
              <a:t>C#, Java, and C++</a:t>
            </a:r>
            <a:r>
              <a:rPr lang="en-US" sz="1900" dirty="0">
                <a:latin typeface="IBM Plex Sans"/>
              </a:rPr>
              <a:t> remain strong among enterprise and system-level developers.</a:t>
            </a:r>
          </a:p>
          <a:p>
            <a:r>
              <a:rPr lang="en-US" sz="1900" dirty="0">
                <a:latin typeface="IBM Plex Sans"/>
              </a:rPr>
              <a:t>Overall, the distribution reflects a strong emphasis on general-purpose languages and established multi-paradigm technologies.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26C253-BB57-09FF-BC75-EB17810DD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38" y="1533525"/>
            <a:ext cx="5235575" cy="36639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FEDFEC-0341-49AD-F2C5-A1DBFAA57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5525" y="1399117"/>
            <a:ext cx="5240867" cy="377401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" y="365125"/>
            <a:ext cx="12094029" cy="1325563"/>
          </a:xfrm>
        </p:spPr>
        <p:txBody>
          <a:bodyPr/>
          <a:lstStyle/>
          <a:p>
            <a:r>
              <a:rPr lang="en-US" dirty="0"/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C42F-75A2-FA08-F2B6-EB2817BBF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1" dirty="0">
                <a:latin typeface="IBM Plex Sans"/>
              </a:rPr>
              <a:t>PostgreSQL</a:t>
            </a:r>
            <a:r>
              <a:rPr lang="en-US" sz="1800" dirty="0">
                <a:latin typeface="IBM Plex Sans"/>
              </a:rPr>
              <a:t> is the most widely used database, reflecting its strength in scalability, reliability, and open-source adoption.</a:t>
            </a:r>
            <a:endParaRPr lang="en-US" sz="1800"/>
          </a:p>
          <a:p>
            <a:r>
              <a:rPr lang="en-US" sz="1800" b="1" dirty="0">
                <a:latin typeface="IBM Plex Sans"/>
              </a:rPr>
              <a:t>MySQL and SQLite</a:t>
            </a:r>
            <a:r>
              <a:rPr lang="en-US" sz="1800" dirty="0">
                <a:latin typeface="IBM Plex Sans"/>
              </a:rPr>
              <a:t> remain highly popular due to their ease of use, legacy support, and prevalence in web applications.</a:t>
            </a:r>
            <a:endParaRPr lang="en-US" sz="1800"/>
          </a:p>
          <a:p>
            <a:r>
              <a:rPr lang="en-US" sz="1800" b="1" dirty="0">
                <a:latin typeface="IBM Plex Sans"/>
              </a:rPr>
              <a:t>MongoDB</a:t>
            </a:r>
            <a:r>
              <a:rPr lang="en-US" sz="1800" dirty="0">
                <a:latin typeface="IBM Plex Sans"/>
              </a:rPr>
              <a:t> shows strong usage among developers working with document-based or flexible schema designs.</a:t>
            </a:r>
          </a:p>
          <a:p>
            <a:r>
              <a:rPr lang="en-US" sz="1800" b="1" dirty="0">
                <a:latin typeface="IBM Plex Sans"/>
              </a:rPr>
              <a:t>Microsoft SQL Server</a:t>
            </a:r>
            <a:r>
              <a:rPr lang="en-US" sz="1800" dirty="0">
                <a:latin typeface="IBM Plex Sans"/>
              </a:rPr>
              <a:t> maintains steady use in enterprise and corporate environments.</a:t>
            </a:r>
            <a:endParaRPr lang="en-US" sz="1800"/>
          </a:p>
          <a:p>
            <a:r>
              <a:rPr lang="en-US" sz="1800" dirty="0">
                <a:latin typeface="IBM Plex Sans"/>
              </a:rPr>
              <a:t>Overall usage suggests a balanced ecosystem where relational databases dominate, with NoSQL options filling specialized needs.</a:t>
            </a: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7B10A-E9C3-5B71-0345-782E28BDB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 dirty="0">
                <a:latin typeface="IBM Plex Sans"/>
              </a:rPr>
              <a:t>Redis</a:t>
            </a:r>
            <a:r>
              <a:rPr lang="en-US" sz="1800" dirty="0">
                <a:latin typeface="IBM Plex Sans"/>
              </a:rPr>
              <a:t> is the most desired database moving forward, likely due to its speed, in-memory performance, and popularity in cloud architectures.</a:t>
            </a:r>
            <a:endParaRPr lang="en-US" sz="1800"/>
          </a:p>
          <a:p>
            <a:r>
              <a:rPr lang="en-US" sz="1800" b="1" dirty="0">
                <a:latin typeface="IBM Plex Sans"/>
              </a:rPr>
              <a:t>PostgreSQL</a:t>
            </a:r>
            <a:r>
              <a:rPr lang="en-US" sz="1800" dirty="0">
                <a:latin typeface="IBM Plex Sans"/>
              </a:rPr>
              <a:t> continues to rank high in future demand, indicating sustained confidence in its long-term viability.</a:t>
            </a:r>
            <a:endParaRPr lang="en-US" sz="1800"/>
          </a:p>
          <a:p>
            <a:r>
              <a:rPr lang="en-US" sz="1800" dirty="0">
                <a:latin typeface="IBM Plex Sans"/>
              </a:rPr>
              <a:t>Developers show growing interest in </a:t>
            </a:r>
            <a:r>
              <a:rPr lang="en-US" sz="1800" b="1" dirty="0">
                <a:latin typeface="IBM Plex Sans"/>
              </a:rPr>
              <a:t>MongoDB and SQLite</a:t>
            </a:r>
            <a:r>
              <a:rPr lang="en-US" sz="1800" dirty="0">
                <a:latin typeface="IBM Plex Sans"/>
              </a:rPr>
              <a:t>, especially for lightweight, flexible data workflows.</a:t>
            </a:r>
          </a:p>
          <a:p>
            <a:r>
              <a:rPr lang="en-US" sz="1800" dirty="0">
                <a:latin typeface="IBM Plex Sans"/>
              </a:rPr>
              <a:t>The rise in interest for performance-optimized and cloud-native databases suggests a shift toward scalable, distributed system design.</a:t>
            </a:r>
            <a:endParaRPr lang="en-US" sz="1800"/>
          </a:p>
          <a:p>
            <a:r>
              <a:rPr lang="en-US" sz="1800" dirty="0">
                <a:latin typeface="IBM Plex Sans"/>
              </a:rPr>
              <a:t>Demand patterns indicate that developers are prioritizing speed, availability, and production-ready open-source tools in their future learning plans.</a:t>
            </a: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number of blue squares with text&#10;&#10;AI-generated content may be incorrect.">
            <a:extLst>
              <a:ext uri="{FF2B5EF4-FFF2-40B4-BE49-F238E27FC236}">
                <a16:creationId xmlns:a16="http://schemas.microsoft.com/office/drawing/2014/main" id="{76C2062A-2ACA-43C9-C697-232B589C2D9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68450" y="712470"/>
            <a:ext cx="9044516" cy="542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072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1</a:t>
            </a:r>
          </a:p>
        </p:txBody>
      </p:sp>
      <p:pic>
        <p:nvPicPr>
          <p:cNvPr id="6" name="Content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0775957-1C05-AD85-AAB4-0FD80088E15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468033" y="1429368"/>
            <a:ext cx="7245350" cy="543224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2</a:t>
            </a:r>
          </a:p>
        </p:txBody>
      </p:sp>
      <p:pic>
        <p:nvPicPr>
          <p:cNvPr id="6" name="Content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33AE490-7297-6115-9EAB-BAFCE9740D7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510367" y="1480868"/>
            <a:ext cx="7171266" cy="538216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3</a:t>
            </a:r>
          </a:p>
        </p:txBody>
      </p:sp>
      <p:pic>
        <p:nvPicPr>
          <p:cNvPr id="6" name="Content Placeholder 5" descr="A screenshot of a graph&#10;&#10;AI-generated content may be incorrect.">
            <a:extLst>
              <a:ext uri="{FF2B5EF4-FFF2-40B4-BE49-F238E27FC236}">
                <a16:creationId xmlns:a16="http://schemas.microsoft.com/office/drawing/2014/main" id="{0BD017E6-4B1B-3B7D-E441-CB16F4C39B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542117" y="1500036"/>
            <a:ext cx="7097183" cy="535441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B89C-35B9-C514-4E9C-FCBE8D68D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b="1" dirty="0">
                <a:latin typeface="IBM Plex Sans"/>
              </a:rPr>
              <a:t>General-purpose languages dominate current usage</a:t>
            </a:r>
            <a:r>
              <a:rPr lang="en-US" sz="1600" dirty="0">
                <a:latin typeface="IBM Plex Sans"/>
              </a:rPr>
              <a:t>, with JavaScript, Python, and SQL forming the core developer toolkit.</a:t>
            </a:r>
            <a:endParaRPr lang="en-US" sz="1600"/>
          </a:p>
          <a:p>
            <a:r>
              <a:rPr lang="en-US" sz="1600" dirty="0">
                <a:latin typeface="IBM Plex Sans"/>
              </a:rPr>
              <a:t>Organizations should expect these skills to remain foundational across most roles.</a:t>
            </a:r>
            <a:endParaRPr lang="en-US" sz="1600"/>
          </a:p>
          <a:p>
            <a:r>
              <a:rPr lang="en-US" sz="1600" b="1" dirty="0">
                <a:latin typeface="IBM Plex Sans"/>
              </a:rPr>
              <a:t>Future learning trends show a shift toward performance and scalability</a:t>
            </a:r>
            <a:r>
              <a:rPr lang="en-US" sz="1600" dirty="0">
                <a:latin typeface="IBM Plex Sans"/>
              </a:rPr>
              <a:t>, with rising interest in TypeScript, Go, and Rust.</a:t>
            </a:r>
            <a:endParaRPr lang="en-US" sz="1600"/>
          </a:p>
          <a:p>
            <a:r>
              <a:rPr lang="en-US" sz="1600" dirty="0">
                <a:latin typeface="IBM Plex Sans"/>
              </a:rPr>
              <a:t>This reflects increasing emphasis on cloud-native systems, type safety, and high-efficiency architectures.</a:t>
            </a:r>
          </a:p>
          <a:p>
            <a:r>
              <a:rPr lang="en-US" sz="1600" b="1" dirty="0">
                <a:latin typeface="IBM Plex Sans"/>
              </a:rPr>
              <a:t>Relational databases continue to lead</a:t>
            </a:r>
            <a:r>
              <a:rPr lang="en-US" sz="1600" dirty="0">
                <a:latin typeface="IBM Plex Sans"/>
              </a:rPr>
              <a:t>, especially PostgreSQL and MySQL, due to reliability and broad industry adoption.</a:t>
            </a:r>
            <a:endParaRPr lang="en-US" sz="1600"/>
          </a:p>
          <a:p>
            <a:r>
              <a:rPr lang="en-US" sz="1600" dirty="0">
                <a:latin typeface="IBM Plex Sans"/>
              </a:rPr>
              <a:t>NoSQL systems like Redis and MongoDB show growing momentum, particularly in real-time and distributed applications.</a:t>
            </a:r>
            <a:endParaRPr lang="en-US" sz="16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BBA5A-826D-FFFD-F1BE-92269842D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b="1" dirty="0">
                <a:latin typeface="IBM Plex Sans"/>
              </a:rPr>
              <a:t>Cloud platforms and automation tools are becoming critical skills</a:t>
            </a:r>
            <a:r>
              <a:rPr lang="en-US" sz="1600" dirty="0">
                <a:latin typeface="IBM Plex Sans"/>
              </a:rPr>
              <a:t>, with AWS, Google Cloud, and modern frameworks ranking highly in desired technologies.</a:t>
            </a:r>
            <a:endParaRPr lang="en-US" sz="1600" dirty="0"/>
          </a:p>
          <a:p>
            <a:r>
              <a:rPr lang="en-US" sz="1600" dirty="0">
                <a:latin typeface="IBM Plex Sans"/>
              </a:rPr>
              <a:t>Indicates continued movement toward DevOps, microservices, and AI-driven workflows.</a:t>
            </a:r>
            <a:endParaRPr lang="en-US" sz="1600" dirty="0"/>
          </a:p>
          <a:p>
            <a:r>
              <a:rPr lang="en-US" sz="1600" b="1" dirty="0">
                <a:latin typeface="IBM Plex Sans"/>
              </a:rPr>
              <a:t>Demographics skew toward early-career developers</a:t>
            </a:r>
            <a:r>
              <a:rPr lang="en-US" sz="1600" dirty="0">
                <a:latin typeface="IBM Plex Sans"/>
              </a:rPr>
              <a:t>, primarily ages 25–34 with Bachelor’s or Master’s degrees.</a:t>
            </a:r>
            <a:endParaRPr lang="en-US" sz="1600" dirty="0"/>
          </a:p>
          <a:p>
            <a:r>
              <a:rPr lang="en-US" sz="1600" dirty="0">
                <a:latin typeface="IBM Plex Sans"/>
              </a:rPr>
              <a:t>Training and hiring strategies should target this demographic while addressing regional skill variations.</a:t>
            </a:r>
          </a:p>
          <a:p>
            <a:r>
              <a:rPr lang="en-US" sz="1600" b="1" dirty="0">
                <a:latin typeface="IBM Plex Sans"/>
              </a:rPr>
              <a:t>The ecosystem is rapidly evolving</a:t>
            </a:r>
            <a:r>
              <a:rPr lang="en-US" sz="1600" dirty="0">
                <a:latin typeface="IBM Plex Sans"/>
              </a:rPr>
              <a:t>, with developers actively preparing for tools that support scalability, reliability, and modern software engineering practices.</a:t>
            </a:r>
            <a:endParaRPr lang="en-US" sz="1600" dirty="0"/>
          </a:p>
          <a:p>
            <a:r>
              <a:rPr lang="en-US" sz="1600" dirty="0">
                <a:latin typeface="IBM Plex Sans"/>
              </a:rPr>
              <a:t>Businesses must align technology roadmaps with these shifts to remain competitive.</a:t>
            </a:r>
            <a:endParaRPr lang="en-US" sz="1600" dirty="0"/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latin typeface="IBM Plex Sans"/>
              </a:rPr>
              <a:t>The analysis highlights strong continuity in core technologies</a:t>
            </a:r>
            <a:r>
              <a:rPr lang="en-US" sz="1800" dirty="0">
                <a:latin typeface="IBM Plex Sans"/>
              </a:rPr>
              <a:t>, with JavaScript, Python, SQL, and PostgreSQL remaining central to modern development.</a:t>
            </a:r>
            <a:endParaRPr lang="en-US" sz="1800" dirty="0"/>
          </a:p>
          <a:p>
            <a:r>
              <a:rPr lang="en-US" sz="1800" b="1" dirty="0">
                <a:latin typeface="IBM Plex Sans"/>
              </a:rPr>
              <a:t>Future trends point toward performance-oriented and cloud-native tools</a:t>
            </a:r>
            <a:r>
              <a:rPr lang="en-US" sz="1800" dirty="0">
                <a:latin typeface="IBM Plex Sans"/>
              </a:rPr>
              <a:t>, including TypeScript, Go, Rust, Redis, and AWS, reflecting industry movement toward scalable, secure architectures.</a:t>
            </a:r>
            <a:endParaRPr lang="en-US" sz="1800" dirty="0"/>
          </a:p>
          <a:p>
            <a:r>
              <a:rPr lang="en-US" sz="1800" b="1" dirty="0">
                <a:latin typeface="IBM Plex Sans"/>
              </a:rPr>
              <a:t>Developers are actively preparing for emerging technologies</a:t>
            </a:r>
            <a:r>
              <a:rPr lang="en-US" sz="1800" dirty="0">
                <a:latin typeface="IBM Plex Sans"/>
              </a:rPr>
              <a:t>, indicating a healthy, forward-looking ecosystem with rapid skill evolution.</a:t>
            </a:r>
            <a:endParaRPr lang="en-US" sz="1800" dirty="0"/>
          </a:p>
          <a:p>
            <a:r>
              <a:rPr lang="en-US" sz="1800" b="1" dirty="0">
                <a:latin typeface="IBM Plex Sans"/>
              </a:rPr>
              <a:t>Demographic insights show a globally distributed but youthful workforce</a:t>
            </a:r>
            <a:r>
              <a:rPr lang="en-US" sz="1800" dirty="0">
                <a:latin typeface="IBM Plex Sans"/>
              </a:rPr>
              <a:t>, dominated by early-career professionals with formal education pathways.</a:t>
            </a:r>
            <a:endParaRPr lang="en-US" sz="1800" dirty="0"/>
          </a:p>
          <a:p>
            <a:r>
              <a:rPr lang="en-US" sz="1800" b="1" dirty="0">
                <a:latin typeface="IBM Plex Sans"/>
              </a:rPr>
              <a:t>Overall, the findings support data-driven planning</a:t>
            </a:r>
            <a:r>
              <a:rPr lang="en-US" sz="1800" dirty="0">
                <a:latin typeface="IBM Plex Sans"/>
              </a:rPr>
              <a:t> for hiring, curriculum design, and technology adoption strategies across organizations and developer communities.</a:t>
            </a:r>
            <a:endParaRPr lang="en-US" sz="1800" dirty="0"/>
          </a:p>
          <a:p>
            <a:endParaRPr lang="en-US" dirty="0"/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3E454-C91A-6291-D3B7-97A29B95E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IBM Plex Sans SemiBold"/>
              </a:rPr>
              <a:t>APPENDIX</a:t>
            </a:r>
            <a:endParaRPr lang="en-US" dirty="0"/>
          </a:p>
        </p:txBody>
      </p:sp>
      <p:pic>
        <p:nvPicPr>
          <p:cNvPr id="5" name="Content Placeholder 4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CC5FBFE6-53FB-79DA-5896-288F9D8982B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245784" y="1697622"/>
            <a:ext cx="7700432" cy="457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1365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IBM PPT Temp Jan 2023</Template>
  <TotalTime>11</TotalTime>
  <Words>346</Words>
  <Application>Microsoft Office PowerPoint</Application>
  <PresentationFormat>Widescreen</PresentationFormat>
  <Paragraphs>105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SLIDE_TEMPLATE_skill_network</vt:lpstr>
      <vt:lpstr>IBM Data Analysis Capstone Project</vt:lpstr>
      <vt:lpstr>PowerPoint Presentation</vt:lpstr>
      <vt:lpstr>EXECUTIVE SUMMARY</vt:lpstr>
      <vt:lpstr>INTRODUCTION</vt:lpstr>
      <vt:lpstr>METHODOLOGY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PowerPoint Presentation</vt:lpstr>
      <vt:lpstr>DASHBOARD TAB 1</vt:lpstr>
      <vt:lpstr>DASHBOARD TAB 2</vt:lpstr>
      <vt:lpstr>DASHBOARD TAB 3</vt:lpstr>
      <vt:lpstr>OVERALL FINDINGS &amp; IMPLICATIONS</vt:lpstr>
      <vt:lpstr>CONCLUSION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Ramesh Kandasamy</cp:lastModifiedBy>
  <cp:revision>238</cp:revision>
  <dcterms:created xsi:type="dcterms:W3CDTF">2024-10-30T05:40:03Z</dcterms:created>
  <dcterms:modified xsi:type="dcterms:W3CDTF">2025-12-01T20:35:15Z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